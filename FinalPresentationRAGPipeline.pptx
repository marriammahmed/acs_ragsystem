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Play"/>
      <p:regular r:id="rId17"/>
      <p:bold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7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RAG / retrieval docs (conceptual framing): https://docs.langchain.com/oss/python/langchain/rag</a:t>
            </a:r>
            <a:br>
              <a:rPr lang="en-US"/>
            </a:br>
            <a:r>
              <a:rPr lang="en-US"/>
              <a:t>- RAG paper (original formulation): https://arxiv.org/pdf/2005.11401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RAG paper (definition + motivation): https://arxiv.org/pdf/2005.11401</a:t>
            </a:r>
            <a:br>
              <a:rPr lang="en-US"/>
            </a:br>
            <a:r>
              <a:rPr lang="en-US"/>
              <a:t>- LangChain RAG tutorial (retrieval + generation framing): https://docs.langchain.com/oss/python/langchain/rag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Assignment requirements: document types + loaders + chunking experiments. (uploaded PDF)</a:t>
            </a:r>
            <a:br>
              <a:rPr lang="en-US"/>
            </a:br>
            <a:r>
              <a:rPr lang="en-US"/>
              <a:t>- LangChain RAG tutorial (document loading &amp; splitting): https://docs.langchain.com/oss/python/langchain/rag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tutorial on loading/splitting docs (chunking rationale): https://docs.langchain.com/oss/python/langchain/rag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Sentence-Transformers docs (model overview and speed/quality notes): https://www.sbert.net/docs/sentence_transformer/pretrained_models.html</a:t>
            </a:r>
            <a:br>
              <a:rPr lang="en-US"/>
            </a:br>
            <a:r>
              <a:rPr lang="en-US"/>
              <a:t>- Hugging Face model card (intended uses): https://huggingface.co/sentence-transformers/all-MiniLM-L6-v2</a:t>
            </a:r>
            <a:br>
              <a:rPr lang="en-US"/>
            </a:br>
            <a:r>
              <a:rPr lang="en-US"/>
              <a:t>- Chroma docs (collections config / hnsw:space options): https://docs.trychroma.com/docs/collections/configure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retrieval docs (retrieval pipeline building blocks): https://docs.langchain.com/oss/python/langchain/retrieval</a:t>
            </a:r>
            <a:br>
              <a:rPr lang="en-US"/>
            </a:br>
            <a:r>
              <a:rPr lang="en-US"/>
              <a:t>- Chroma docs (querying collections): https://docs.trychroma.com/docs/querying-collections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RAG tutorial (context formatting + generation step): https://docs.langchain.com/oss/python/langchain/rag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RAG tutorial (indexing + retrieval/generation stages): https://docs.langchain.com/oss/python/langchain/rag</a:t>
            </a:r>
            <a:br>
              <a:rPr lang="en-US"/>
            </a:br>
            <a:r>
              <a:rPr lang="en-US"/>
              <a:t>- Chroma docs (collections + querying concepts): https://docs.trychroma.com/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evaluation tutorial (RAG evaluation concepts): https://docs.langchain.com/langsmith/evaluate-rag-tutorial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LangChain RAG tutorial (iteration on chunking/retrieval/prompting is common): https://docs.langchain.com/oss/python/langchain/rag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RAG paper: https://arxiv.org/pdf/2005.11401</a:t>
            </a:r>
            <a:br>
              <a:rPr lang="en-US"/>
            </a:br>
            <a:r>
              <a:rPr lang="en-US"/>
              <a:t>- LangChain RAG docs: https://docs.langchain.com/oss/python/langchain/rag</a:t>
            </a:r>
            <a:br>
              <a:rPr lang="en-US"/>
            </a:br>
            <a:r>
              <a:rPr lang="en-US"/>
              <a:t>- Chroma docs: https://docs.trychroma.com/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248" name="Google Shape;2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ba2b5d06f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ba2b5d06f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ba2b5d06f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63E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lay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Retrieval-Augmented Generation (RAG) Pipeline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3052335"/>
            <a:ext cx="1063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Engineering Teamwork 1: Applied Computer Science Lab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DBEAFE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600" y="4682750"/>
            <a:ext cx="6201000" cy="133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05850" y="4949928"/>
            <a:ext cx="56694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>
                <a:solidFill>
                  <a:srgbClr val="1D1D1D"/>
                </a:solidFill>
              </a:rPr>
              <a:t>Leila Abdelelah, Mariam Ahmed,</a:t>
            </a:r>
            <a:r>
              <a:rPr lang="en-US">
                <a:solidFill>
                  <a:srgbClr val="1D1D1D"/>
                </a:solidFill>
              </a:rPr>
              <a:t>Hasan Abu Hejleh, Verzhinia Achova,Suhaib Abubakar</a:t>
            </a:r>
            <a:endParaRPr i="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>
                <a:solidFill>
                  <a:srgbClr val="111827"/>
                </a:solidFill>
              </a:rPr>
              <a:t>24.01.2026</a:t>
            </a:r>
            <a:endParaRPr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11827"/>
                </a:solidFill>
              </a:rPr>
              <a:t>BST-BCS-28</a:t>
            </a:r>
            <a:endParaRPr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11827"/>
                </a:solidFill>
              </a:rPr>
              <a:t>Professor Hasan Dag</a:t>
            </a:r>
            <a:endParaRPr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111827"/>
              </a:solidFill>
            </a:endParaRPr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RAG in One Slide: What &amp; Why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RAG = retrieval + generation (LLM) for grounded answers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097280"/>
            <a:ext cx="566928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What RAG does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60120" y="16916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RAG combines: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60120" y="205740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Parametric memory (LLM weights)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Non‑parametric memory (retrievable documents)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 retriever that selects relevant chunks for each query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60120" y="34290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Why it matters: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0" y="379476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Reduces hallucinations by grounding the answer in retrieved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Adds citations/provenance back to the source documents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Lets us update knowledge by updating the document store (no retraining)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675120" y="1097280"/>
            <a:ext cx="484632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995160" y="13258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High-level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178040" y="1828800"/>
            <a:ext cx="3840480" cy="7315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178040" y="19933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User 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778240" y="2606040"/>
            <a:ext cx="822960" cy="5486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178040" y="3246120"/>
            <a:ext cx="38404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178040" y="33375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Retriever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(find relevant chunks)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778240" y="4251960"/>
            <a:ext cx="822960" cy="5486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178040" y="4892040"/>
            <a:ext cx="384048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178040" y="498348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(generate answer + citations)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Knowledge Base: 5 Document Types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Diverse sources to reflect real RAG deployments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731520" y="82296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We ingested five document modalities using LangChain document loaders and standardized metadata (source, type, page/chunk ids) for traceability.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731520" y="1417320"/>
            <a:ext cx="1920240" cy="56692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651760" y="1417320"/>
            <a:ext cx="2834640" cy="56692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Example(s)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0" y="1417350"/>
            <a:ext cx="2169300" cy="5670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Processing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655825" y="1417325"/>
            <a:ext cx="3819900" cy="5670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Why include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31520" y="1984248"/>
            <a:ext cx="1920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PDF (papers)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651760" y="1984248"/>
            <a:ext cx="28346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RAG / Transformers / DPR papers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0" y="1984250"/>
            <a:ext cx="21693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374151"/>
                </a:solidFill>
              </a:rPr>
              <a:t>PDF opened page-by-page</a:t>
            </a:r>
            <a:endParaRPr sz="10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374151"/>
                </a:solidFill>
              </a:rPr>
              <a:t>Text extracted per page</a:t>
            </a:r>
            <a:endParaRPr sz="10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374151"/>
                </a:solidFill>
              </a:rPr>
              <a:t>Each page treated as an independent logical unit</a:t>
            </a:r>
            <a:endParaRPr sz="10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74151"/>
              </a:solidFill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655700" y="1984250"/>
            <a:ext cx="38199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High-quality, structured academic content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Page-level metadata enables precise attribution and citations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31520" y="2551176"/>
            <a:ext cx="1920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Web articles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651760" y="2551176"/>
            <a:ext cx="28346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LangChain docs; Chroma docs; Prompting 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0" y="2551175"/>
            <a:ext cx="21693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HTML downloaded using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Parsed with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BeautifulSoup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Script, style, and non-content tags removed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Visible text normalized into a single clean string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655825" y="2551175"/>
            <a:ext cx="38199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Reflects real-world RAG usage with noisy HTML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Avoids reliance on external loaders for robustness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3118104"/>
            <a:ext cx="1920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Text chapter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651760" y="3118104"/>
            <a:ext cx="28346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Local .txt “chapter”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0" y="3118100"/>
            <a:ext cx="21693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Direct file read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Minimal preprocessing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655875" y="3118100"/>
            <a:ext cx="38199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Clean baseline data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Useful for debugging and controlled experiments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31520" y="3685032"/>
            <a:ext cx="1920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Images (OCR first attempt)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651760" y="3685032"/>
            <a:ext cx="28346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Pipeline diagram + notes screenshot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0" y="3685025"/>
            <a:ext cx="21693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OCR applied using EasyOCR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Language configuration used to improve recognition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Extracted text normalized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655825" y="3685025"/>
            <a:ext cx="38199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Introduces OCR noise intentionally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Simulates real-world documentation artifacts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31525" y="4251947"/>
            <a:ext cx="1920300" cy="77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Video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651750" y="4251947"/>
            <a:ext cx="2834700" cy="77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videos, </a:t>
            </a:r>
            <a:r>
              <a:rPr lang="en-US" sz="1100">
                <a:solidFill>
                  <a:srgbClr val="374151"/>
                </a:solidFill>
              </a:rPr>
              <a:t>mp</a:t>
            </a: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0" y="4251950"/>
            <a:ext cx="2300400" cy="77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Frames sampled from the video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Each frame passed to a vision-capable Ollama model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Model generates short semantic captions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374151"/>
              </a:solidFill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655725" y="4251950"/>
            <a:ext cx="3819900" cy="77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Converts visual information into retrievable text</a:t>
            </a:r>
            <a:endParaRPr sz="11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Demonstrates multimodal RAG beyond text-only pipelines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31520" y="63550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Implementation note: </a:t>
            </a:r>
            <a:r>
              <a:rPr i="1" lang="en-US" sz="1100">
                <a:solidFill>
                  <a:srgbClr val="6B7280"/>
                </a:solidFill>
              </a:rPr>
              <a:t>All document types are normalized into plain text + metadata before any chunking or retrieval logic is applied.</a:t>
            </a:r>
            <a:endParaRPr b="0" i="0" sz="11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Chunking Strategy: Design &amp; Experiments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We tested multiple chunk sizes/overlaps and selected a balanced default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8650" y="1097250"/>
            <a:ext cx="5577900" cy="523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60120" y="13258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Why chunk at all?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23000" y="1627621"/>
            <a:ext cx="50292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</a:rPr>
              <a:t>Vector search works on fixed-length text segments (chunks)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</a:rPr>
              <a:t>Overlap helps preserve context across chunk boundaries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</a:rPr>
              <a:t>Trade-off: small chunks = precise retrieval, but more indexing cost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</a:rPr>
              <a:t>Large chunks = richer context, but less precise matches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Chunking strategy 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Text is split sequentially by characters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Overlap ensures continuity between adjacent chunks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Same strategy is applied uniformly to: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PDFs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web pages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OCR output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video captions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This avoids format-specific behavior and keeps retrieval consistent.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Why this works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Small enough for precise semantic retrieval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Large enough to preserve local reasoning context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Overlap prevents losing definitions or explanations at boundaries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Especially effective for: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noisy OCR text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short video captions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heterogeneous data sources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92240" y="1097280"/>
            <a:ext cx="50292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812280" y="13258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Our measured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738850" y="1678775"/>
            <a:ext cx="4670100" cy="4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Chunking experiments we performed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We experimented with multiple chunk sizes and overlaps during development: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Larger chunks (~ 1000–1500 characters)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richer context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but often retrieved irrelevant surrounding text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Smaller chunks (~ 300–500 characters)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higher retrieval precision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better performance on OCR and video-derived text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After empirical testing, we selected ~500 characters as the final default.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Final chunking configuration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Chunk size: ~500 characters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Overlap: ~100–150 characters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Method: character-based sliding window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Chunking is applied after all sources are normalized to text</a:t>
            </a:r>
            <a:br>
              <a:rPr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(PDF, web, OCR, video captions)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Recommended defaults (widely used in practice): Chunk size: 500–800 tokens. Overlap: 10–20% (≈ 50–150 tokens)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92458" y="5687575"/>
            <a:ext cx="42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Embeddings + Vector Database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We embed chunks and store them with metadata for semantic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40080" y="1097280"/>
            <a:ext cx="566928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960120" y="1325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Embedding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914525" y="1804338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Sentence Transformers: </a:t>
            </a:r>
            <a:r>
              <a:rPr lang="en-US" sz="1700">
                <a:solidFill>
                  <a:schemeClr val="dk1"/>
                </a:solidFill>
              </a:rPr>
              <a:t>nomic-embed-text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14525" y="2064963"/>
            <a:ext cx="5303400" cy="1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500">
                <a:solidFill>
                  <a:schemeClr val="dk1"/>
                </a:solidFill>
              </a:rPr>
              <a:t>Higher semantic accuracy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500">
                <a:solidFill>
                  <a:schemeClr val="dk1"/>
                </a:solidFill>
              </a:rPr>
              <a:t>Better for RAG, long documents, nuanced meaning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500">
                <a:solidFill>
                  <a:schemeClr val="dk1"/>
                </a:solidFill>
              </a:rPr>
              <a:t>Common in production-grade RAG systems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60125" y="3870750"/>
            <a:ext cx="5212200" cy="211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143063" y="4038733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Play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Metadata stored with each chunk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143063" y="4261110"/>
            <a:ext cx="4846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source (file/URL)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type (pdf/web/text/image/video)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page_number (when available)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chunk_id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583680" y="1097280"/>
            <a:ext cx="493776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903720" y="13258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Vector store (ChromaDB)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903720" y="1691640"/>
            <a:ext cx="4434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Stores vectors + original chunk text + metadata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Similarity metric: cosine (common for normalized embeddings)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Top‑k retrieval parameter controls how many chunks are returned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835150" y="3633099"/>
            <a:ext cx="4573800" cy="19602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087450" y="3913623"/>
            <a:ext cx="406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Design choice: why cosine?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087450" y="4215375"/>
            <a:ext cx="4069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Cosine similarity is widely used for text embeddings because it focuses on direction (semantic meaning) rather than vector magnitude.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Retrieval: Similarity Search + Top‑k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Selecting the best context is the biggest quality lever in RAG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" y="1097280"/>
            <a:ext cx="10972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960120" y="132588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How retrieval works in our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960120" y="1691640"/>
            <a:ext cx="932688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234440" y="1965960"/>
            <a:ext cx="8778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1) Encode user query into an embedding vector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2) Query ChromaDB for nearest neighbors (cosine similarity)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3) Return top‑k chunks + metadata (source/type/page)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4) Format them into a context block for the LLM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60120" y="5349240"/>
            <a:ext cx="9326880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234440" y="5504688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Default: top_k = 5 (enough coverage without overwhelming the prompt)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0561320" y="1691640"/>
            <a:ext cx="9144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0716768" y="1965960"/>
            <a:ext cx="603504" cy="1828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 rot="5400000">
            <a:off x="10607040" y="21945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High relevance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0716768" y="3657600"/>
            <a:ext cx="603504" cy="1828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 rot="5400000">
            <a:off x="10607040" y="388620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Noise / irrelevant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Prompt Engineering: Grounded Answers + Citations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We constrain the model to use only retrieved context and to admit uncertainty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021325" y="1110878"/>
            <a:ext cx="5669400" cy="175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3763195" y="123063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Prompt design 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359338" y="1703401"/>
            <a:ext cx="5120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Use ONLY provided context (reduce hallucinations)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Return “don’t know” when context is insufficient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Include source citations (from chunk metadata)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Be concise and faithful to the retrieved 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250320" y="3200405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Prompt template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9" title="Screenshot 2026-01-23 at 20.30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31" y="3693411"/>
            <a:ext cx="10109620" cy="242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System Architecture (End-to-End)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Indexing pipeline + online query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40080" y="1097280"/>
            <a:ext cx="10972800" cy="2651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960120" y="132588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Offline: Indexing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40080" y="3886200"/>
            <a:ext cx="1097280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960120" y="411480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Online: Retrieval + Generation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005840" y="1691640"/>
            <a:ext cx="2011680" cy="1645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143000" y="18013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1188720" y="2130552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PDF / Web / TXT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Image OCR /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3246120" y="1691640"/>
            <a:ext cx="2011680" cy="1645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3383280" y="18013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429000" y="2130552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Recursive splitter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size + overlap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486400" y="1691640"/>
            <a:ext cx="2011680" cy="1645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623560" y="18013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Embed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669280" y="2130552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Uses Ollama text embeddings,</a:t>
            </a:r>
            <a:endParaRPr sz="1100">
              <a:solidFill>
                <a:srgbClr val="37415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Uses CLIP embeddings for images, video</a:t>
            </a:r>
            <a:endParaRPr sz="1100">
              <a:solidFill>
                <a:srgbClr val="374151"/>
              </a:solidFill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726680" y="1691640"/>
            <a:ext cx="2011680" cy="1645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7863840" y="18013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909560" y="2130552"/>
            <a:ext cx="1645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 metadata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005840" y="4434840"/>
            <a:ext cx="2011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1143000" y="45445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Query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188720" y="4873752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User question</a:t>
            </a:r>
            <a:r>
              <a:rPr lang="en-US" sz="1100">
                <a:solidFill>
                  <a:srgbClr val="374151"/>
                </a:solidFill>
              </a:rPr>
              <a:t> (embedded)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246120" y="4434840"/>
            <a:ext cx="2011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383280" y="45445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Retrieve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429000" y="4873752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Top‑k chunks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(cosine)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486400" y="4434840"/>
            <a:ext cx="2011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5623560" y="45445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669280" y="4873752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Context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source labels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7726680" y="4434840"/>
            <a:ext cx="2011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7863840" y="45445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Generate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909560" y="4873752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LLM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 citations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9966960" y="4434840"/>
            <a:ext cx="146304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10104120" y="45445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0149840" y="4873752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Notebook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simple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3017520" y="251460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5257800" y="251460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" name="Google Shape;196;p10"/>
          <p:cNvCxnSpPr/>
          <p:nvPr/>
        </p:nvCxnSpPr>
        <p:spPr>
          <a:xfrm>
            <a:off x="7498080" y="251460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10"/>
          <p:cNvCxnSpPr/>
          <p:nvPr/>
        </p:nvCxnSpPr>
        <p:spPr>
          <a:xfrm>
            <a:off x="3017520" y="51389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10"/>
          <p:cNvCxnSpPr/>
          <p:nvPr/>
        </p:nvCxnSpPr>
        <p:spPr>
          <a:xfrm>
            <a:off x="5257800" y="51389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10"/>
          <p:cNvCxnSpPr/>
          <p:nvPr/>
        </p:nvCxnSpPr>
        <p:spPr>
          <a:xfrm>
            <a:off x="7498080" y="51389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0"/>
          <p:cNvCxnSpPr/>
          <p:nvPr/>
        </p:nvCxnSpPr>
        <p:spPr>
          <a:xfrm>
            <a:off x="9738360" y="51389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Quantitative Results (What We Measure)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Simple numbers + examples make design trade-offs clear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731520" y="96012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Metrics we report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8650" y="1407527"/>
            <a:ext cx="5669400" cy="237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5" lIns="2525" spcFirstLastPara="1" rIns="2525" wrap="square" tIns="2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Chunking stats (docs → chunks, average chunk length)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Retrieval quality: inspect top‑k chunks for relevance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RAG vs base LLM: groundedness / hallucination reduction (examples + optional scoring)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Latency: retrieval + generation time per query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• Success/failure cases (what works, what breaks, and why)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629400" y="96012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Example result table (template)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629400" y="1325880"/>
            <a:ext cx="1143000" cy="6400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Query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7772400" y="1325880"/>
            <a:ext cx="1143000" cy="6400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Expected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915400" y="1325880"/>
            <a:ext cx="1143000" cy="6400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Base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0058400" y="1325880"/>
            <a:ext cx="1371600" cy="6400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Play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6629400" y="1965960"/>
            <a:ext cx="11430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In-scope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772400" y="1965960"/>
            <a:ext cx="11430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Correct + specific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915400" y="1965960"/>
            <a:ext cx="11430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May be vague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0058400" y="1965960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Cited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629400" y="2606040"/>
            <a:ext cx="11430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Out-of-scope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7772400" y="2606040"/>
            <a:ext cx="11430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Say “don’t know”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915400" y="2606040"/>
            <a:ext cx="11430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May guess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0058400" y="2606040"/>
            <a:ext cx="1371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Says “not enough info”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059820" y="4030455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Our Metrics: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595" y="3384145"/>
            <a:ext cx="2131054" cy="3307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1021" y="3291846"/>
            <a:ext cx="1762075" cy="34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Challenges &amp; Solutions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0F2FE"/>
                </a:solidFill>
                <a:latin typeface="Arial"/>
                <a:ea typeface="Arial"/>
                <a:cs typeface="Arial"/>
                <a:sym typeface="Arial"/>
              </a:rPr>
              <a:t>What went wrong, what we changed, and what we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731520" y="960120"/>
            <a:ext cx="580644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Chunk size trade-off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Problem: Too small → many chunks (slow indexing); too large → less precise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Solution: Ran experiments (500/100 vs 1500/300) and chose </a:t>
            </a:r>
            <a:r>
              <a:rPr lang="en-US" sz="1200">
                <a:solidFill>
                  <a:srgbClr val="374151"/>
                </a:solidFill>
              </a:rPr>
              <a:t>5</a:t>
            </a: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00/</a:t>
            </a:r>
            <a:r>
              <a:rPr lang="en-US" sz="1200">
                <a:solidFill>
                  <a:srgbClr val="374151"/>
                </a:solidFill>
              </a:rPr>
              <a:t>1</a:t>
            </a: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00 as balance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31520" y="1033272"/>
            <a:ext cx="58064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Chunk size trade-off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31520" y="2697480"/>
            <a:ext cx="580644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Retrieval noise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Problem: Some retrieved chunks may be off-topic if k too high or embeddings mismatch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Solution: Tune top_k; keep metadata; inspect retrieved chunks during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31520" y="2770632"/>
            <a:ext cx="58064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Retrieval noise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731520" y="4434840"/>
            <a:ext cx="580644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YouTube transcript errors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Problem: YouTube loader may return HTTP 400 in some environments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Solution: Wrap loader in try/except so pipeline continues; keep other source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731520" y="4507992"/>
            <a:ext cx="58064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YouTube transcript errors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720850" y="1510400"/>
            <a:ext cx="4709100" cy="31296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5" lIns="2775" spcFirstLastPara="1" rIns="2775" wrap="square" tIns="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we would improve next</a:t>
            </a:r>
            <a:b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Try hybrid search (keywords + vectors) for better precision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Add automated evaluation (faithfulness/relevance scoring)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63E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822960" y="150876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868680" y="2331720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We built a complete RAG pipeline: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822960" y="2971800"/>
            <a:ext cx="1051560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1234440" y="3246120"/>
            <a:ext cx="98755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✔ Data ingestion (5 doc types)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✔ Chunking experiments + chosen default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✔ Embeddings + vector store + retrieval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✔ Prompting with citations + “don’t know”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✔ Demo plan + evaluation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68680" y="6309360"/>
            <a:ext cx="104543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